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57"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822"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75472FD-041A-4337-AB2E-696F3EB6B1D4}" type="datetimeFigureOut">
              <a:rPr lang="en-US" smtClean="0"/>
              <a:pPr/>
              <a:t>3/17/2021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347D09-142C-4C83-98FF-6046663FBB7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A347D09-142C-4C83-98FF-6046663FBB78}" type="slidenum">
              <a:rPr lang="en-US" smtClean="0"/>
              <a:pPr/>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t>Android Audio Architecture </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igure1" descr="Audio architecture"/>
          <p:cNvPicPr/>
          <p:nvPr/>
        </p:nvPicPr>
        <p:blipFill>
          <a:blip r:embed="rId2"/>
          <a:srcRect/>
          <a:stretch>
            <a:fillRect/>
          </a:stretch>
        </p:blipFill>
        <p:spPr bwMode="auto">
          <a:xfrm>
            <a:off x="381000" y="0"/>
            <a:ext cx="8763000" cy="67056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534400" cy="6324600"/>
          </a:xfrm>
        </p:spPr>
        <p:txBody>
          <a:bodyPr>
            <a:normAutofit fontScale="85000" lnSpcReduction="20000"/>
          </a:bodyPr>
          <a:lstStyle/>
          <a:p>
            <a:endParaRPr lang="en-US" dirty="0" smtClean="0"/>
          </a:p>
          <a:p>
            <a:r>
              <a:rPr lang="en-US" b="1" dirty="0" smtClean="0"/>
              <a:t>Audio Java Section</a:t>
            </a:r>
          </a:p>
          <a:p>
            <a:pPr>
              <a:lnSpc>
                <a:spcPct val="100000"/>
              </a:lnSpc>
              <a:buFont typeface="Trebuchet MS" pitchFamily="34" charset="0"/>
              <a:buNone/>
            </a:pPr>
            <a:r>
              <a:rPr lang="en-US" dirty="0" smtClean="0"/>
              <a:t>    Code Path: frameworks/base/media/java/android/media</a:t>
            </a:r>
          </a:p>
          <a:p>
            <a:pPr>
              <a:lnSpc>
                <a:spcPct val="100000"/>
              </a:lnSpc>
              <a:buFont typeface="Trebuchet MS" pitchFamily="34" charset="0"/>
              <a:buNone/>
            </a:pPr>
            <a:r>
              <a:rPr lang="en-US" dirty="0" smtClean="0"/>
              <a:t>    Audio associated with the Java package is </a:t>
            </a:r>
            <a:r>
              <a:rPr lang="en-US" dirty="0" err="1" smtClean="0"/>
              <a:t>android.media</a:t>
            </a:r>
            <a:r>
              <a:rPr lang="en-US" dirty="0" smtClean="0"/>
              <a:t>, Audio system consists mainly of Audio Manager and several classes</a:t>
            </a:r>
          </a:p>
          <a:p>
            <a:r>
              <a:rPr lang="en-US" b="1" dirty="0" smtClean="0"/>
              <a:t>Audio JNI Section</a:t>
            </a:r>
          </a:p>
          <a:p>
            <a:pPr>
              <a:lnSpc>
                <a:spcPct val="100000"/>
              </a:lnSpc>
              <a:spcBef>
                <a:spcPct val="0"/>
              </a:spcBef>
              <a:buFont typeface="Trebuchet MS" pitchFamily="34" charset="0"/>
              <a:buNone/>
            </a:pPr>
            <a:r>
              <a:rPr lang="en-US" dirty="0" smtClean="0"/>
              <a:t>    Code Path: frameworks/base/core/</a:t>
            </a:r>
            <a:r>
              <a:rPr lang="en-US" dirty="0" err="1" smtClean="0"/>
              <a:t>jni</a:t>
            </a:r>
            <a:endParaRPr lang="en-US" dirty="0" smtClean="0"/>
          </a:p>
          <a:p>
            <a:pPr>
              <a:lnSpc>
                <a:spcPct val="100000"/>
              </a:lnSpc>
              <a:spcBef>
                <a:spcPct val="0"/>
              </a:spcBef>
              <a:buFont typeface="Trebuchet MS" pitchFamily="34" charset="0"/>
              <a:buNone/>
            </a:pPr>
            <a:r>
              <a:rPr lang="en-US" dirty="0" smtClean="0"/>
              <a:t>    Library: libandroid_runtime.so </a:t>
            </a:r>
          </a:p>
          <a:p>
            <a:r>
              <a:rPr lang="en-US" b="1" dirty="0" smtClean="0"/>
              <a:t>Audio part of the framework</a:t>
            </a:r>
          </a:p>
          <a:p>
            <a:pPr>
              <a:lnSpc>
                <a:spcPct val="100000"/>
              </a:lnSpc>
              <a:spcBef>
                <a:spcPct val="0"/>
              </a:spcBef>
              <a:buFont typeface="Trebuchet MS" pitchFamily="34" charset="0"/>
              <a:buNone/>
            </a:pPr>
            <a:r>
              <a:rPr lang="en-US" dirty="0" smtClean="0"/>
              <a:t>        Header File Path: frameworks/base/include/media/</a:t>
            </a:r>
          </a:p>
          <a:p>
            <a:pPr>
              <a:lnSpc>
                <a:spcPct val="100000"/>
              </a:lnSpc>
              <a:spcBef>
                <a:spcPct val="0"/>
              </a:spcBef>
              <a:buFont typeface="Trebuchet MS" pitchFamily="34" charset="0"/>
              <a:buNone/>
            </a:pPr>
            <a:r>
              <a:rPr lang="en-US" dirty="0" smtClean="0"/>
              <a:t>        Source Path: frameworks/base/media/</a:t>
            </a:r>
            <a:r>
              <a:rPr lang="en-US" dirty="0" err="1" smtClean="0"/>
              <a:t>libmedia</a:t>
            </a:r>
            <a:endParaRPr lang="en-US" dirty="0" smtClean="0"/>
          </a:p>
          <a:p>
            <a:pPr>
              <a:lnSpc>
                <a:spcPct val="100000"/>
              </a:lnSpc>
              <a:spcBef>
                <a:spcPct val="0"/>
              </a:spcBef>
              <a:buFont typeface="Trebuchet MS" pitchFamily="34" charset="0"/>
              <a:buNone/>
            </a:pPr>
            <a:endParaRPr lang="en-US" dirty="0" smtClean="0"/>
          </a:p>
          <a:p>
            <a:pPr>
              <a:lnSpc>
                <a:spcPct val="100000"/>
              </a:lnSpc>
              <a:spcBef>
                <a:spcPct val="0"/>
              </a:spcBef>
              <a:buFont typeface="Trebuchet MS" pitchFamily="34" charset="0"/>
              <a:buNone/>
            </a:pPr>
            <a:r>
              <a:rPr lang="en-US" dirty="0" smtClean="0"/>
              <a:t>    Audio local media library is part of the framework, this section is compiled into a library </a:t>
            </a:r>
            <a:r>
              <a:rPr lang="en-US" dirty="0" err="1" smtClean="0"/>
              <a:t>libmedia.so</a:t>
            </a:r>
            <a:r>
              <a:rPr lang="en-US" dirty="0" smtClean="0"/>
              <a:t>, provides Audio part of the interface (including those based on Binder's IPC mechanism).</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534400" cy="6324600"/>
          </a:xfrm>
        </p:spPr>
        <p:txBody>
          <a:bodyPr>
            <a:normAutofit fontScale="92500" lnSpcReduction="10000"/>
          </a:bodyPr>
          <a:lstStyle/>
          <a:p>
            <a:endParaRPr lang="en-US" dirty="0" smtClean="0"/>
          </a:p>
          <a:p>
            <a:r>
              <a:rPr lang="en-US" b="1" dirty="0" smtClean="0"/>
              <a:t>Audio Flinger</a:t>
            </a:r>
          </a:p>
          <a:p>
            <a:pPr>
              <a:lnSpc>
                <a:spcPct val="100000"/>
              </a:lnSpc>
              <a:spcBef>
                <a:spcPct val="0"/>
              </a:spcBef>
              <a:buFont typeface="Trebuchet MS" pitchFamily="34" charset="0"/>
              <a:buNone/>
            </a:pPr>
            <a:r>
              <a:rPr lang="en-US" dirty="0" smtClean="0"/>
              <a:t>    Code Path: frameworks/base/</a:t>
            </a:r>
            <a:r>
              <a:rPr lang="en-US" dirty="0" err="1" smtClean="0"/>
              <a:t>libs</a:t>
            </a:r>
            <a:r>
              <a:rPr lang="en-US" dirty="0" smtClean="0"/>
              <a:t>/</a:t>
            </a:r>
            <a:r>
              <a:rPr lang="en-US" dirty="0" err="1" smtClean="0"/>
              <a:t>audioflinger</a:t>
            </a:r>
            <a:endParaRPr lang="en-US" dirty="0" smtClean="0"/>
          </a:p>
          <a:p>
            <a:pPr>
              <a:lnSpc>
                <a:spcPct val="100000"/>
              </a:lnSpc>
              <a:spcBef>
                <a:spcPct val="0"/>
              </a:spcBef>
              <a:buFont typeface="Trebuchet MS" pitchFamily="34" charset="0"/>
              <a:buNone/>
            </a:pPr>
            <a:endParaRPr lang="en-US" dirty="0" smtClean="0"/>
          </a:p>
          <a:p>
            <a:pPr>
              <a:lnSpc>
                <a:spcPct val="100000"/>
              </a:lnSpc>
              <a:spcBef>
                <a:spcPct val="0"/>
              </a:spcBef>
              <a:buFont typeface="Trebuchet MS" pitchFamily="34" charset="0"/>
              <a:buNone/>
            </a:pPr>
            <a:r>
              <a:rPr lang="en-US" dirty="0" smtClean="0"/>
              <a:t>    </a:t>
            </a:r>
            <a:r>
              <a:rPr lang="en-US" sz="2600" dirty="0" smtClean="0"/>
              <a:t>This section is compiled into a library </a:t>
            </a:r>
            <a:r>
              <a:rPr lang="en-US" sz="2600" dirty="0" err="1" smtClean="0"/>
              <a:t>libaudioflinger.so</a:t>
            </a:r>
            <a:r>
              <a:rPr lang="en-US" sz="2600" dirty="0" smtClean="0"/>
              <a:t>, Audio system, which is part of   </a:t>
            </a:r>
          </a:p>
          <a:p>
            <a:pPr>
              <a:lnSpc>
                <a:spcPct val="100000"/>
              </a:lnSpc>
              <a:spcBef>
                <a:spcPct val="0"/>
              </a:spcBef>
              <a:buFont typeface="Trebuchet MS" pitchFamily="34" charset="0"/>
              <a:buNone/>
            </a:pPr>
            <a:r>
              <a:rPr lang="en-US" sz="2600" dirty="0" smtClean="0"/>
              <a:t>    the local Services.</a:t>
            </a:r>
          </a:p>
          <a:p>
            <a:r>
              <a:rPr lang="en-US" b="1" dirty="0" smtClean="0"/>
              <a:t>Audio Hardware Abstraction Layer Interface</a:t>
            </a:r>
          </a:p>
          <a:p>
            <a:pPr>
              <a:lnSpc>
                <a:spcPct val="100000"/>
              </a:lnSpc>
              <a:buFont typeface="Trebuchet MS" pitchFamily="34" charset="0"/>
              <a:buNone/>
            </a:pPr>
            <a:r>
              <a:rPr lang="en-US" dirty="0" smtClean="0"/>
              <a:t>    Code Path: hardware/</a:t>
            </a:r>
            <a:r>
              <a:rPr lang="en-US" dirty="0" err="1" smtClean="0"/>
              <a:t>libhardware_legacy</a:t>
            </a:r>
            <a:r>
              <a:rPr lang="en-US" dirty="0" smtClean="0"/>
              <a:t>/include/hardware</a:t>
            </a:r>
          </a:p>
          <a:p>
            <a:pPr fontAlgn="t">
              <a:lnSpc>
                <a:spcPct val="100000"/>
              </a:lnSpc>
              <a:buFont typeface="Trebuchet MS" pitchFamily="34" charset="0"/>
              <a:buNone/>
            </a:pPr>
            <a:r>
              <a:rPr lang="en-US" dirty="0" smtClean="0"/>
              <a:t>    </a:t>
            </a:r>
            <a:r>
              <a:rPr lang="en-US" sz="2600" dirty="0" smtClean="0"/>
              <a:t>Audio hardware abstraction layer implemented in various systems may be different, you need to inherit the appropriate class code and implement them. Audio hardware abstraction layer provides an interface to the hardware for </a:t>
            </a:r>
            <a:r>
              <a:rPr lang="en-US" sz="2600" dirty="0" err="1" smtClean="0"/>
              <a:t>AudioFlinger</a:t>
            </a:r>
            <a:r>
              <a:rPr lang="en-US" sz="2600" dirty="0" smtClean="0"/>
              <a:t> call.</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65238"/>
          </a:xfrm>
        </p:spPr>
        <p:txBody>
          <a:bodyPr>
            <a:normAutofit fontScale="90000"/>
          </a:bodyPr>
          <a:lstStyle/>
          <a:p>
            <a:r>
              <a:rPr lang="en-US" sz="3100" i="1" dirty="0" smtClean="0"/>
              <a:t>Relationships between various levels is shown below</a:t>
            </a:r>
            <a:r>
              <a:rPr lang="en-US" i="1" dirty="0" smtClean="0"/>
              <a:t/>
            </a:r>
            <a:br>
              <a:rPr lang="en-US" i="1" dirty="0" smtClean="0"/>
            </a:br>
            <a:endParaRPr lang="en-US" dirty="0"/>
          </a:p>
        </p:txBody>
      </p:sp>
      <p:graphicFrame>
        <p:nvGraphicFramePr>
          <p:cNvPr id="4" name="Content Placeholder 3"/>
          <p:cNvGraphicFramePr>
            <a:graphicFrameLocks noGrp="1"/>
          </p:cNvGraphicFramePr>
          <p:nvPr>
            <p:ph idx="1"/>
          </p:nvPr>
        </p:nvGraphicFramePr>
        <p:xfrm>
          <a:off x="380999" y="1676400"/>
          <a:ext cx="8610601" cy="4722495"/>
        </p:xfrm>
        <a:graphic>
          <a:graphicData uri="http://schemas.openxmlformats.org/drawingml/2006/table">
            <a:tbl>
              <a:tblPr/>
              <a:tblGrid>
                <a:gridCol w="1678338"/>
                <a:gridCol w="2408051"/>
                <a:gridCol w="2262106"/>
                <a:gridCol w="2262106"/>
              </a:tblGrid>
              <a:tr h="907133">
                <a:tc>
                  <a:txBody>
                    <a:bodyPr/>
                    <a:lstStyle/>
                    <a:p>
                      <a:pPr marL="0" marR="0" algn="l" fontAlgn="t">
                        <a:spcBef>
                          <a:spcPts val="0"/>
                        </a:spcBef>
                        <a:spcAft>
                          <a:spcPts val="0"/>
                        </a:spcAft>
                      </a:pP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kern="1200" dirty="0">
                          <a:solidFill>
                            <a:schemeClr val="tx1"/>
                          </a:solidFill>
                          <a:latin typeface="Trebuchet MS"/>
                          <a:ea typeface="Times New Roman"/>
                          <a:cs typeface="Times New Roman"/>
                        </a:rPr>
                        <a:t>Audio Management</a:t>
                      </a:r>
                    </a:p>
                  </a:txBody>
                  <a:tcPr marL="61993" marR="6199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a:latin typeface="Trebuchet MS"/>
                          <a:ea typeface="Times New Roman"/>
                          <a:cs typeface="Times New Roman"/>
                        </a:rPr>
                        <a:t>Audio Output</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a:latin typeface="Trebuchet MS"/>
                          <a:ea typeface="Times New Roman"/>
                          <a:cs typeface="Times New Roman"/>
                        </a:rPr>
                        <a:t>Audio Input</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7133">
                <a:tc>
                  <a:txBody>
                    <a:bodyPr/>
                    <a:lstStyle/>
                    <a:p>
                      <a:pPr marL="0" marR="0" algn="l" fontAlgn="t">
                        <a:spcBef>
                          <a:spcPts val="0"/>
                        </a:spcBef>
                        <a:spcAft>
                          <a:spcPts val="0"/>
                        </a:spcAft>
                      </a:pPr>
                      <a:r>
                        <a:rPr lang="en-US" sz="1800">
                          <a:latin typeface="Trebuchet MS"/>
                          <a:ea typeface="Times New Roman"/>
                          <a:cs typeface="Times New Roman"/>
                        </a:rPr>
                        <a:t>Java Layer</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Android.media.AudioSystem</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Android.media.AudioTrack</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a:latin typeface="Trebuchet MS"/>
                          <a:ea typeface="Times New Roman"/>
                          <a:cs typeface="Times New Roman"/>
                        </a:rPr>
                        <a:t>Android.media.AudioRecorder</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00548">
                <a:tc>
                  <a:txBody>
                    <a:bodyPr/>
                    <a:lstStyle/>
                    <a:p>
                      <a:pPr marL="0" marR="0" algn="l" fontAlgn="t">
                        <a:spcBef>
                          <a:spcPts val="0"/>
                        </a:spcBef>
                        <a:spcAft>
                          <a:spcPts val="0"/>
                        </a:spcAft>
                      </a:pPr>
                      <a:r>
                        <a:rPr lang="en-US" sz="1800">
                          <a:latin typeface="Trebuchet MS"/>
                          <a:ea typeface="Times New Roman"/>
                          <a:cs typeface="Times New Roman"/>
                        </a:rPr>
                        <a:t>Local Framework Layer</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AudioSystem</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AudioTrack</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AudioRecorder</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7133">
                <a:tc>
                  <a:txBody>
                    <a:bodyPr/>
                    <a:lstStyle/>
                    <a:p>
                      <a:pPr marL="0" marR="0" algn="l" fontAlgn="t">
                        <a:spcBef>
                          <a:spcPts val="0"/>
                        </a:spcBef>
                        <a:spcAft>
                          <a:spcPts val="0"/>
                        </a:spcAft>
                      </a:pPr>
                      <a:r>
                        <a:rPr lang="en-US" sz="1800" dirty="0">
                          <a:latin typeface="Trebuchet MS"/>
                          <a:ea typeface="Times New Roman"/>
                          <a:cs typeface="Times New Roman"/>
                        </a:rPr>
                        <a:t>AudioFlinger</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a:latin typeface="Trebuchet MS"/>
                          <a:ea typeface="Times New Roman"/>
                          <a:cs typeface="Times New Roman"/>
                        </a:rPr>
                        <a:t>IAudioFlinger</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IAudioTrack</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a:latin typeface="Trebuchet MS"/>
                          <a:ea typeface="Times New Roman"/>
                          <a:cs typeface="Times New Roman"/>
                        </a:rPr>
                        <a:t>IAudioRecorder</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00548">
                <a:tc>
                  <a:txBody>
                    <a:bodyPr/>
                    <a:lstStyle/>
                    <a:p>
                      <a:pPr marL="0" marR="0" algn="l" fontAlgn="t">
                        <a:spcBef>
                          <a:spcPts val="0"/>
                        </a:spcBef>
                        <a:spcAft>
                          <a:spcPts val="0"/>
                        </a:spcAft>
                      </a:pPr>
                      <a:r>
                        <a:rPr lang="en-US" sz="1800" dirty="0">
                          <a:latin typeface="Trebuchet MS"/>
                          <a:ea typeface="Times New Roman"/>
                          <a:cs typeface="Times New Roman"/>
                        </a:rPr>
                        <a:t>Hardware Abstraction Layer</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a:latin typeface="Trebuchet MS"/>
                          <a:ea typeface="Times New Roman"/>
                          <a:cs typeface="Times New Roman"/>
                        </a:rPr>
                        <a:t>AudioHardwareInterface</a:t>
                      </a: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AudioStreamout</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800" dirty="0" err="1">
                          <a:latin typeface="Trebuchet MS"/>
                          <a:ea typeface="Times New Roman"/>
                          <a:cs typeface="Times New Roman"/>
                        </a:rPr>
                        <a:t>AudioStreamIn</a:t>
                      </a:r>
                      <a:endParaRPr lang="en-US" sz="1800" dirty="0">
                        <a:latin typeface="Trebuchet MS"/>
                        <a:ea typeface="Times New Roman"/>
                        <a:cs typeface="Times New Roman"/>
                      </a:endParaRPr>
                    </a:p>
                  </a:txBody>
                  <a:tcPr marL="61993" marR="619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Audio Flinger </a:t>
            </a:r>
            <a:endParaRPr lang="en-US" dirty="0"/>
          </a:p>
        </p:txBody>
      </p:sp>
      <p:sp>
        <p:nvSpPr>
          <p:cNvPr id="3" name="Content Placeholder 2"/>
          <p:cNvSpPr>
            <a:spLocks noGrp="1"/>
          </p:cNvSpPr>
          <p:nvPr>
            <p:ph idx="1"/>
          </p:nvPr>
        </p:nvSpPr>
        <p:spPr/>
        <p:txBody>
          <a:bodyPr/>
          <a:lstStyle/>
          <a:p>
            <a:r>
              <a:rPr lang="en-US" sz="2400" dirty="0" smtClean="0"/>
              <a:t>It is a system service which starts during boot and enables the platform for audio related use-cases in the following ways.</a:t>
            </a:r>
          </a:p>
          <a:p>
            <a:pPr>
              <a:buNone/>
            </a:pPr>
            <a:endParaRPr lang="en-US" sz="2400" dirty="0" smtClean="0"/>
          </a:p>
          <a:p>
            <a:pPr>
              <a:buNone/>
            </a:pPr>
            <a:r>
              <a:rPr lang="en-US" sz="2400" dirty="0" smtClean="0"/>
              <a:t>1.     Provide the access interface for the upper layer for using   </a:t>
            </a:r>
          </a:p>
          <a:p>
            <a:pPr>
              <a:buNone/>
            </a:pPr>
            <a:r>
              <a:rPr lang="en-US" sz="2400" dirty="0" smtClean="0"/>
              <a:t>         Audio.</a:t>
            </a:r>
          </a:p>
          <a:p>
            <a:pPr>
              <a:buNone/>
            </a:pPr>
            <a:r>
              <a:rPr lang="en-US" sz="2400" dirty="0" smtClean="0"/>
              <a:t>2.     Uses the HAL to manage the audio devices.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AudioFlinger</a:t>
            </a:r>
            <a:r>
              <a:rPr lang="en-US" b="1" dirty="0" smtClean="0"/>
              <a:t> Service: Startup and Operation.</a:t>
            </a:r>
            <a:endParaRPr lang="en-US" dirty="0"/>
          </a:p>
        </p:txBody>
      </p:sp>
      <p:sp>
        <p:nvSpPr>
          <p:cNvPr id="3" name="Content Placeholder 2"/>
          <p:cNvSpPr>
            <a:spLocks noGrp="1"/>
          </p:cNvSpPr>
          <p:nvPr>
            <p:ph idx="1"/>
          </p:nvPr>
        </p:nvSpPr>
        <p:spPr/>
        <p:txBody>
          <a:bodyPr>
            <a:normAutofit lnSpcReduction="10000"/>
          </a:bodyPr>
          <a:lstStyle/>
          <a:p>
            <a:r>
              <a:rPr lang="en-US" dirty="0" smtClean="0"/>
              <a:t>System services in Android fall into two categories</a:t>
            </a:r>
          </a:p>
          <a:p>
            <a:pPr marL="514350" indent="-514350">
              <a:buAutoNum type="arabicPeriod"/>
            </a:pPr>
            <a:r>
              <a:rPr lang="en-US" dirty="0" smtClean="0"/>
              <a:t>Java Services </a:t>
            </a:r>
          </a:p>
          <a:p>
            <a:pPr marL="514350" indent="-514350">
              <a:buAutoNum type="arabicPeriod"/>
            </a:pPr>
            <a:r>
              <a:rPr lang="en-US" dirty="0" smtClean="0"/>
              <a:t>Native Services.</a:t>
            </a:r>
          </a:p>
          <a:p>
            <a:pPr>
              <a:buNone/>
            </a:pPr>
            <a:r>
              <a:rPr lang="en-US" sz="2800" dirty="0" err="1" smtClean="0"/>
              <a:t>Mediaserver</a:t>
            </a:r>
            <a:r>
              <a:rPr lang="en-US" sz="2800" dirty="0" smtClean="0"/>
              <a:t> starts all the native layer services [</a:t>
            </a:r>
            <a:r>
              <a:rPr lang="en-US" sz="2800" dirty="0" err="1" smtClean="0"/>
              <a:t>Viz</a:t>
            </a:r>
            <a:r>
              <a:rPr lang="en-US" sz="2800" dirty="0" smtClean="0"/>
              <a:t>: </a:t>
            </a:r>
            <a:r>
              <a:rPr lang="en-US" sz="2800" dirty="0" err="1" smtClean="0"/>
              <a:t>AudioFlinger</a:t>
            </a:r>
            <a:r>
              <a:rPr lang="en-US" sz="2800" dirty="0" smtClean="0"/>
              <a:t>, </a:t>
            </a:r>
            <a:r>
              <a:rPr lang="en-US" sz="2800" dirty="0" err="1" smtClean="0"/>
              <a:t>MediaPlayerService</a:t>
            </a:r>
            <a:r>
              <a:rPr lang="en-US" sz="2800" dirty="0" smtClean="0"/>
              <a:t>, </a:t>
            </a:r>
            <a:r>
              <a:rPr lang="en-US" sz="2800" dirty="0" err="1" smtClean="0"/>
              <a:t>CameraService</a:t>
            </a:r>
            <a:r>
              <a:rPr lang="en-US" sz="2800" dirty="0" smtClean="0"/>
              <a:t>, and </a:t>
            </a:r>
            <a:r>
              <a:rPr lang="en-US" sz="2800" dirty="0" err="1" smtClean="0"/>
              <a:t>AudioPolicyService</a:t>
            </a:r>
            <a:r>
              <a:rPr lang="en-US" sz="2800" dirty="0" smtClean="0"/>
              <a:t>] for achieving media related From the file </a:t>
            </a:r>
            <a:r>
              <a:rPr lang="en-US" sz="2800" b="1" dirty="0" smtClean="0"/>
              <a:t>frameworks/</a:t>
            </a:r>
            <a:r>
              <a:rPr lang="en-US" sz="2800" b="1" dirty="0" err="1" smtClean="0"/>
              <a:t>av</a:t>
            </a:r>
            <a:r>
              <a:rPr lang="en-US" sz="2800" b="1" dirty="0" smtClean="0"/>
              <a:t>/media/</a:t>
            </a:r>
            <a:r>
              <a:rPr lang="en-US" sz="2800" b="1" dirty="0" err="1" smtClean="0"/>
              <a:t>mediaserver</a:t>
            </a:r>
            <a:r>
              <a:rPr lang="en-US" sz="2800" b="1" dirty="0" smtClean="0"/>
              <a:t>/main_mediaserver.cpp.</a:t>
            </a:r>
          </a:p>
          <a:p>
            <a:pPr marL="514350" indent="-514350">
              <a:buNone/>
            </a:pPr>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1000"/>
            <a:ext cx="9144000" cy="5745163"/>
          </a:xfrm>
        </p:spPr>
        <p:txBody>
          <a:bodyPr>
            <a:normAutofit/>
          </a:bodyPr>
          <a:lstStyle/>
          <a:p>
            <a:r>
              <a:rPr lang="en-US" dirty="0" err="1" smtClean="0"/>
              <a:t>AudioFlinger</a:t>
            </a:r>
            <a:r>
              <a:rPr lang="en-US" dirty="0" smtClean="0"/>
              <a:t> is the executor of the strategy defined and decided and does some of the following tasks.</a:t>
            </a:r>
          </a:p>
          <a:p>
            <a:endParaRPr lang="en-US" dirty="0" smtClean="0"/>
          </a:p>
          <a:p>
            <a:r>
              <a:rPr lang="en-US" dirty="0" smtClean="0"/>
              <a:t>1.     How to communicate specifically with the audio device.</a:t>
            </a:r>
          </a:p>
          <a:p>
            <a:r>
              <a:rPr lang="en-US" dirty="0" smtClean="0"/>
              <a:t>2.     How to maintain the audio </a:t>
            </a:r>
            <a:r>
              <a:rPr lang="en-US" dirty="0" err="1" smtClean="0"/>
              <a:t>sstate</a:t>
            </a:r>
            <a:r>
              <a:rPr lang="en-US" dirty="0" smtClean="0"/>
              <a:t> sanity in the existing system.</a:t>
            </a:r>
          </a:p>
          <a:p>
            <a:r>
              <a:rPr lang="en-US" dirty="0" smtClean="0"/>
              <a:t>3.     How to deal with the mixture of multiple audio streams, etc.</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Audio policy manager </a:t>
            </a:r>
            <a:endParaRPr lang="en-US" dirty="0"/>
          </a:p>
        </p:txBody>
      </p:sp>
      <p:sp>
        <p:nvSpPr>
          <p:cNvPr id="3" name="Content Placeholder 2"/>
          <p:cNvSpPr>
            <a:spLocks noGrp="1"/>
          </p:cNvSpPr>
          <p:nvPr>
            <p:ph idx="1"/>
          </p:nvPr>
        </p:nvSpPr>
        <p:spPr/>
        <p:txBody>
          <a:bodyPr>
            <a:normAutofit/>
          </a:bodyPr>
          <a:lstStyle/>
          <a:p>
            <a:pPr>
              <a:buNone/>
            </a:pPr>
            <a:r>
              <a:rPr lang="en-US" dirty="0" smtClean="0"/>
              <a:t>Audio policy manger  is the policy maker. It decides some of the important things like.</a:t>
            </a:r>
          </a:p>
          <a:p>
            <a:r>
              <a:rPr lang="en-US" dirty="0" smtClean="0"/>
              <a:t>1.     When to open the audio interface device.</a:t>
            </a:r>
          </a:p>
          <a:p>
            <a:r>
              <a:rPr lang="en-US" dirty="0" smtClean="0"/>
              <a:t>2.     What kind of Stream-type audio corresponds to what device etc.</a:t>
            </a:r>
          </a:p>
          <a:p>
            <a:r>
              <a:rPr lang="en-US" sz="2800" dirty="0" err="1" smtClean="0"/>
              <a:t>AudioPolicyManagerBase</a:t>
            </a:r>
            <a:r>
              <a:rPr lang="en-US" sz="2800" dirty="0" smtClean="0"/>
              <a:t> ()  reads the contents of the file of </a:t>
            </a:r>
            <a:r>
              <a:rPr lang="en-US" sz="2800" b="1" dirty="0" err="1" smtClean="0"/>
              <a:t>audio_policy.conf</a:t>
            </a:r>
            <a:r>
              <a:rPr lang="en-US" sz="2800" dirty="0" smtClean="0"/>
              <a:t> and then opens the different  types of audio interfaces</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Audio Binder IPC </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293</Words>
  <Application>Microsoft Office PowerPoint</Application>
  <PresentationFormat>On-screen Show (4:3)</PresentationFormat>
  <Paragraphs>65</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Android Audio Architecture </vt:lpstr>
      <vt:lpstr>Slide 2</vt:lpstr>
      <vt:lpstr>Slide 3</vt:lpstr>
      <vt:lpstr>Slide 4</vt:lpstr>
      <vt:lpstr>Relationships between various levels is shown below </vt:lpstr>
      <vt:lpstr>Audio Flinger </vt:lpstr>
      <vt:lpstr>AudioFlinger Service: Startup and Operation.</vt:lpstr>
      <vt:lpstr>Slide 8</vt:lpstr>
      <vt:lpstr>Audio policy manager </vt:lpstr>
      <vt:lpstr>Audio Binder IPC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Audio Architecture </dc:title>
  <dc:creator>admin</dc:creator>
  <cp:lastModifiedBy>admin</cp:lastModifiedBy>
  <cp:revision>7</cp:revision>
  <dcterms:created xsi:type="dcterms:W3CDTF">2006-08-16T00:00:00Z</dcterms:created>
  <dcterms:modified xsi:type="dcterms:W3CDTF">2021-03-17T12:19:23Z</dcterms:modified>
</cp:coreProperties>
</file>